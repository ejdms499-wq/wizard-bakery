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31bd76c-0315-e8b8-6468-cf82cbfb78be}">
          <p14:sldIdLst>
            <p14:sldId id="256"/>
          </p14:sldIdLst>
        </p14:section>
        <p14:section name="기획" id="{21fdd18a-ceb6-71d1-190e-8aa5f6dbf4e8}">
          <p14:sldIdLst>
            <p14:sldId id="257"/>
            <p14:sldId id="258"/>
          </p14:sldIdLst>
        </p14:section>
        <p14:section name="개발" id="{1ba4b83d-91f5-499f-a524-ea5c9762a04a}">
          <p14:sldIdLst>
            <p14:sldId id="259"/>
            <p14:sldId id="260"/>
            <p14:sldId id="261"/>
            <p14:sldId id="262"/>
          </p14:sldIdLst>
        </p14:section>
        <p14:section name="화면" id="{056720eb-6551-518b-bead-73b3656557bc}">
          <p14:sldIdLst>
            <p14:sldId id="263"/>
            <p14:sldId id="264"/>
            <p14:sldId id="265"/>
            <p14:sldId id="266"/>
          </p14:sldIdLst>
        </p14:section>
        <p14:section name="기능" id="{7a002485-d6bf-8596-7bed-f34d6d7c861b}">
          <p14:sldIdLst>
            <p14:sldId id="267"/>
            <p14:sldId id="268"/>
            <p14:sldId id="269"/>
          </p14:sldIdLst>
        </p14:section>
        <p14:section name="회고" id="{b88cd51d-e068-56e5-c126-2e07c89d22b8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1EAE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1EAE0"/>
                </a:solidFill>
                <a:latin typeface="+mn-lt"/>
              </a:rPr>
              <a:t>컬렉션별 상품 수 (총 39종)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상품 수</c:v>
                </c:pt>
              </c:strCache>
            </c:strRef>
          </c:tx>
          <c:spPr>
            <a:solidFill>
              <a:srgbClr val="D9A0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EA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MIND</c:v>
                  </c:pt>
                  <c:pt idx="1">
                    <c:v>RELATION</c:v>
                  </c:pt>
                  <c:pt idx="2">
                    <c:v>CURSE</c:v>
                  </c:pt>
                  <c:pt idx="3">
                    <c:v>SEALED</c:v>
                  </c:pt>
                  <c:pt idx="4">
                    <c:v>NIGHT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EA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EA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ejdms499-wq.github.io/wizard-bakery/" TargetMode="External"/><Relationship Id="rId2" Type="http://schemas.openxmlformats.org/officeDocument/2006/relationships/hyperlink" Target="https://github.com/ejdms499-wq/wizard-bakery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chemeClr val="accent1"/>
                </a:solidFill>
              </a:rPr>
              <a:t>OPEN AFTER MIDNIGHT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BAKERY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위저드 베이커리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MORE MAGICAL TOMORROW.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소설 속 마법 베이커리를, 실제로 걸어 들어갈 수 있는 인터랙티브 웹으로 옮긴 프로젝트. 기획부터 배포까지의 과정을 정리했습니다.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React · JSON 데이터 설계 · AI 이미지(나노바나나) · GitHub Pages</a:t>
            </a:r>
            <a:endParaRPr lang="en-US" sz="1100" dirty="0"/>
          </a:p>
        </p:txBody>
      </p:sp>
      <p:pic>
        <p:nvPicPr>
          <p:cNvPr id="8" name="hero-shot" descr="라이브 사이트 메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544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1554480"/>
            <a:ext cx="5120640" cy="32004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LIVE SITE  ·  ejdms499-wq.github.io/wizard-bakery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PLANNING · 01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소설의 세 가지 설정에서 출발했습니다</a:t>
            </a:r>
            <a:endParaRPr lang="en-US" sz="3200" dirty="0"/>
          </a:p>
        </p:txBody>
      </p:sp>
      <p:sp>
        <p:nvSpPr>
          <p:cNvPr id="4" name="setting-card-1"/>
          <p:cNvSpPr/>
          <p:nvPr/>
        </p:nvSpPr>
        <p:spPr>
          <a:xfrm>
            <a:off x="548640" y="164592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아무나 찾을 수 없는 빵집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가정불화로 도망친 소년이 우연히 발을 들인 순간에야 문이 열립니다. 정체불명의 점장이 매일 밤 이곳을 지킵니다.</a:t>
            </a:r>
            <a:endParaRPr lang="en-US" sz="1500" dirty="0"/>
          </a:p>
        </p:txBody>
      </p:sp>
      <p:sp>
        <p:nvSpPr>
          <p:cNvPr id="7" name="setting-card-2"/>
          <p:cNvSpPr/>
          <p:nvPr/>
        </p:nvSpPr>
        <p:spPr>
          <a:xfrm>
            <a:off x="4297680" y="164592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모든 빵에는 대가가 있습니다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88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원하는 효과를 얻는 만큼, 그에 상응하는 무언가를 내어줘야 합니다. 공짜인 마법은 없습니다.</a:t>
            </a:r>
            <a:endParaRPr lang="en-US" sz="1500" dirty="0"/>
          </a:p>
        </p:txBody>
      </p:sp>
      <p:sp>
        <p:nvSpPr>
          <p:cNvPr id="10" name="setting-card-3"/>
          <p:cNvSpPr/>
          <p:nvPr/>
        </p:nvSpPr>
        <p:spPr>
          <a:xfrm>
            <a:off x="8046720" y="164592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선택은, 결국 나의 몫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788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빵은 상황을 바꿔줄 뿐입니다. 결과를 감당하는 사람은 언제나 주문한 사람 자신입니다.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세계관을 그대로 옮겨, “진짜로 판매하는 베이커리”처럼 보이는 화면 위에 소설의 숨결 — 효과 · 대가 · 후기 — 을 얹는 것이 목표였습니다.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PLANNING · 02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구매 흐름 자체를 세계관으로 바꿨습니다</a:t>
            </a:r>
            <a:endParaRPr lang="en-US" sz="3200" dirty="0"/>
          </a:p>
        </p:txBody>
      </p:sp>
      <p:sp>
        <p:nvSpPr>
          <p:cNvPr id="4" name="flow-card-1"/>
          <p:cNvSpPr/>
          <p:nvPr/>
        </p:nvSpPr>
        <p:spPr>
          <a:xfrm>
            <a:off x="548640" y="182880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진열대 탐색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카테고리·효과 검색으로 ‘지금 필요한 빵’을 찾습니다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8" name="flow-card-2"/>
          <p:cNvSpPr/>
          <p:nvPr/>
        </p:nvSpPr>
        <p:spPr>
          <a:xfrm>
            <a:off x="3364992" y="182880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효과와 대가 확인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8803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상세 페이지에서 맛·재료뿐 아니라 효과와 주의를 함께 읽습니다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2531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flow-card-3"/>
          <p:cNvSpPr/>
          <p:nvPr/>
        </p:nvSpPr>
        <p:spPr>
          <a:xfrm>
            <a:off x="6181344" y="182880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9944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계약서 서명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8803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장바구니 자리에 ‘대가 확인서’. 서명해야 효과가 공개되는 품목도 있습니다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41664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16" name="flow-card-4"/>
          <p:cNvSpPr/>
          <p:nvPr/>
        </p:nvSpPr>
        <p:spPr>
          <a:xfrm>
            <a:off x="8997696" y="182880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26296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위시 · 알림 · 후기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8803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살 수 없는 빵은 알림으로, 먹은 뒤의 이야기는 ‘그 후’ 탭으로 이어집니다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일반 쇼핑몰이 ‘구매 전환’을 설계한다면, 위저드 베이커리는 ‘대가를 알고 선택하게 하는 경험’을 설계했습니다.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PROCESS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기획에서 배포까지 여섯 단계</a:t>
            </a:r>
            <a:endParaRPr lang="en-US" sz="3200" dirty="0"/>
          </a:p>
        </p:txBody>
      </p:sp>
      <p:sp>
        <p:nvSpPr>
          <p:cNvPr id="4" name="step-card-1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세계관 기획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원작 톤을 유지한 신메뉴 서사, 실제 베이커리 사이트 구조 벤치마킹</a:t>
            </a:r>
            <a:endParaRPr lang="en-US" sz="1400" dirty="0"/>
          </a:p>
        </p:txBody>
      </p:sp>
      <p:sp>
        <p:nvSpPr>
          <p:cNvPr id="9" name="step-card-2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설계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JSON 스키마 정의, 5개 컬렉션 · 39개 상품 구조화</a:t>
            </a:r>
            <a:endParaRPr lang="en-US" sz="1400" dirty="0"/>
          </a:p>
        </p:txBody>
      </p:sp>
      <p:sp>
        <p:nvSpPr>
          <p:cNvPr id="14" name="step-card-3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구현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Header · Hero · Shelf · ProductDetail 컴포넌트로 조립</a:t>
            </a:r>
            <a:endParaRPr lang="en-US" sz="1400" dirty="0"/>
          </a:p>
        </p:txBody>
      </p:sp>
      <p:sp>
        <p:nvSpPr>
          <p:cNvPr id="19" name="step-card-4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제작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AI(나노바나나)로 상품 이미지 39종 제작·통일</a:t>
            </a:r>
            <a:endParaRPr lang="en-US" sz="1400" dirty="0"/>
          </a:p>
        </p:txBody>
      </p:sp>
      <p:sp>
        <p:nvSpPr>
          <p:cNvPr id="24" name="step-card-5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160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페이지·기능 확장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라우터 도입, 계약·점장의 노트·위시 등 세계관 기능</a:t>
            </a:r>
            <a:endParaRPr lang="en-US" sz="1400" dirty="0"/>
          </a:p>
        </p:txBody>
      </p:sp>
      <p:sp>
        <p:nvSpPr>
          <p:cNvPr id="29" name="step-card-6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 &amp; QA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GitHub Pages 배포, 모바일 반응형·경로 오류 점검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DATA DESIGN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데이터와 화면을 완전히 분리했습니다</a:t>
            </a:r>
            <a:endParaRPr lang="en-US" sz="3200" dirty="0"/>
          </a:p>
        </p:txBody>
      </p:sp>
      <p:sp>
        <p:nvSpPr>
          <p:cNvPr id="4" name="schema-card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301,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"curse",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"블라인드 스팟 초콜릿 에클레어",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"nameEn": "BLIND SPOT CHOCOLATE ECLAIR",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"price": "...원",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"CAUTION",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"tagline": "...",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"effect": "...",  "warning": "...",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"descriptionLong": "...",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"taste": "...",  "texture": "...",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"ingredients": [...],  "traces": [...],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"image": "img/products/....png"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5544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5029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상품이 추가되거나 바뀌어도 코드는 손대지 않고 JSON 파일만 교체하면 됩니다. 모든 목록은 .map()으로 그려집니다.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IMAGE PRODUCTION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나노바나나로 39종을 한 매장처럼 통일했습니다</a:t>
            </a:r>
            <a:endParaRPr lang="en-US" sz="3200" dirty="0"/>
          </a:p>
        </p:txBody>
      </p:sp>
      <p:pic>
        <p:nvPicPr>
          <p:cNvPr id="4" name="product-mind-pudding" descr="mind-pud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194560" cy="2194560"/>
          </a:xfrm>
          <a:prstGeom prst="rect">
            <a:avLst/>
          </a:prstGeom>
        </p:spPr>
      </p:pic>
      <p:pic>
        <p:nvPicPr>
          <p:cNvPr id="5" name="product-chain-walnut-pretzel" descr="chain-walnut-pretz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600200"/>
            <a:ext cx="2194560" cy="2194560"/>
          </a:xfrm>
          <a:prstGeom prst="rect">
            <a:avLst/>
          </a:prstGeom>
        </p:spPr>
      </p:pic>
      <p:pic>
        <p:nvPicPr>
          <p:cNvPr id="6" name="product-blind-spot-chocolate-eclair" descr="blind-spot-chocolate-ecl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00200"/>
            <a:ext cx="2194560" cy="2194560"/>
          </a:xfrm>
          <a:prstGeom prst="rect">
            <a:avLst/>
          </a:prstGeom>
        </p:spPr>
      </p:pic>
      <p:pic>
        <p:nvPicPr>
          <p:cNvPr id="7" name="product-white-cocoa-powder" descr="white-cocoa-pow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77640"/>
            <a:ext cx="2194560" cy="2194560"/>
          </a:xfrm>
          <a:prstGeom prst="rect">
            <a:avLst/>
          </a:prstGeom>
        </p:spPr>
      </p:pic>
      <p:pic>
        <p:nvPicPr>
          <p:cNvPr id="8" name="product-devil-cookie" descr="devil-cooki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2194560" cy="2194560"/>
          </a:xfrm>
          <a:prstGeom prst="rect">
            <a:avLst/>
          </a:prstGeom>
        </p:spPr>
      </p:pic>
      <p:pic>
        <p:nvPicPr>
          <p:cNvPr id="9" name="product-courage-macaron" descr="courage-macar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977640"/>
            <a:ext cx="2194560" cy="219456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777240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 기준 통일</a:t>
            </a:r>
            <a:endParaRPr lang="en-US" sz="2000" dirty="0"/>
          </a:p>
        </p:txBody>
      </p:sp>
      <p:sp>
        <p:nvSpPr>
          <p:cNvPr id="11" name="Text 3"/>
          <p:cNvSpPr txBox="1"/>
          <p:nvPr/>
        </p:nvSpPr>
        <p:spPr>
          <a:xfrm>
            <a:off x="7772400" y="21488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같은 검은 대리석 진열대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같은 따뜻한 조명과 앵글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메뉴마다 형태·질감만 구체적으로 지정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결과가 어긋나면 피드백을 주고받으며 재생성</a:t>
            </a:r>
            <a:endParaRPr lang="en-US" sz="1500" dirty="0"/>
          </a:p>
        </p:txBody>
      </p:sp>
      <p:sp>
        <p:nvSpPr>
          <p:cNvPr id="12" name="Text 4"/>
          <p:cNvSpPr txBox="1"/>
          <p:nvPr/>
        </p:nvSpPr>
        <p:spPr>
          <a:xfrm>
            <a:off x="7772400" y="45720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파일명 오타로 이미지 1장이 안 뜨던 문제는 개발자도구 Network 탭에서 실패한 요청을 추적해 해결했습니다.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INFORMATION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8개 경로로 구성된 사이트 구조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92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A066"/>
                          </a:solidFill>
                        </a:rPr>
                        <a:t>경로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A066"/>
                          </a:solidFill>
                        </a:rPr>
                        <a:t>화면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A066"/>
                          </a:solidFill>
                        </a:rPr>
                        <a:t>핵심 기능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메인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Hero · 진열대 · 소식 · 방문 안내 섹션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/product/:id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상품 상세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4탭 · 계약서 · 위시 · 알림 · 확대 · 최근 본 상품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브랜드 스토리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세계관과 매장 이야기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/journal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점장의 노트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자정~새벽에만 열람, 오늘의 노트 뽑기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/visit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방문 안내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‘정해진 주소는 없다’는 설정을 살린 안내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/wishes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관심 품목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localStorage에 저장한 위시리스트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/subscription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정기 계약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정기 구독 안내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A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404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EAE0"/>
                          </a:solidFill>
                        </a:rPr>
                        <a:t>길을 잃은 방문객을 위한 페이지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1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SCREEN · MAIN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메인: 자정에만 문을 여는 첫 화면</a:t>
            </a:r>
            <a:endParaRPr lang="en-US" sz="3200" dirty="0"/>
          </a:p>
        </p:txBody>
      </p:sp>
      <p:pic>
        <p:nvPicPr>
          <p:cNvPr id="4" name="메인 히어로 화면" descr="메인 히어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6949440" cy="43434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6459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실시간처럼 보이는 방문자 수 (하루 단위로 값이 바뀜)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금빛 달 로고와 별 반짝임으로 세계관 전달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안개 영상 배경과 모서리 마스크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‘진열대 둘러보기’로 바로 스크롤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45720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주의 문구 ‘MANAGER’S NOTE’를 첫 화면에 두어, 효과와 대가를 먼저 확인하라는 톤을 정했습니다.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SCREEN · SHELF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진열대: 유리에 낀 김서림을 손으로 닦아 보는 감각</a:t>
            </a:r>
            <a:endParaRPr lang="en-US" sz="3200" dirty="0"/>
          </a:p>
        </p:txBody>
      </p:sp>
      <p:pic>
        <p:nvPicPr>
          <p:cNvPr id="4" name="진열대 장면 1" descr="진열대 장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566160" cy="22288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카테고리 패널 위에 마우스를 올리면 커서 주변만 김서림이 걷힙니다</a:t>
            </a:r>
            <a:endParaRPr lang="en-US" sz="1200" dirty="0"/>
          </a:p>
        </p:txBody>
      </p:sp>
      <p:pic>
        <p:nvPicPr>
          <p:cNvPr id="7" name="진열대 장면 2" descr="진열대 장면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3566160" cy="22288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9768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29768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컬렉션 선택 → category로 필터링, 가격순 등 정렬 지원</a:t>
            </a:r>
            <a:endParaRPr lang="en-US" sz="1200" dirty="0"/>
          </a:p>
        </p:txBody>
      </p:sp>
      <p:pic>
        <p:nvPicPr>
          <p:cNvPr id="10" name="진열대 장면 3" descr="진열대 장면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37360"/>
            <a:ext cx="3566160" cy="22288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4672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4672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‘불안’, ‘기억’ 같은 효과어로 검색, 인기 검색어 칩 제공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검색은 이름뿐 아니라 효과 · 주의 · 맛 · 재료 · 카테고리 키워드까지 훑습니다. ‘저주’, ‘불안’처럼 빵 이름에 없는 말도 찾아집니다.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SCREEN · DETAIL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상세: 효과와 대가를 읽고 계약서에 서명합니다</a:t>
            </a:r>
            <a:endParaRPr lang="en-US" sz="3200" dirty="0"/>
          </a:p>
        </p:txBody>
      </p:sp>
      <p:pic>
        <p:nvPicPr>
          <p:cNvPr id="4" name="상세 장면 1" descr="상세 장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566160" cy="22288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4탭 구성: 상세정보 · 재료·맛 · 효과·주의 · 그 후 이야기</a:t>
            </a:r>
            <a:endParaRPr lang="en-US" sz="1200" dirty="0"/>
          </a:p>
        </p:txBody>
      </p:sp>
      <p:pic>
        <p:nvPicPr>
          <p:cNvPr id="7" name="상세 장면 2" descr="상세 장면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3566160" cy="22288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9768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29768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효과·주의 탭: 효과와 위험을 나란히 보여줌</a:t>
            </a:r>
            <a:endParaRPr lang="en-US" sz="1200" dirty="0"/>
          </a:p>
        </p:txBody>
      </p:sp>
      <p:pic>
        <p:nvPicPr>
          <p:cNvPr id="10" name="상세 장면 3" descr="상세 장면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37360"/>
            <a:ext cx="3566160" cy="22288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4672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4672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‘대가 확인서’ 모달: 이름을 적고 서명해야 진행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숨김(HIDDEN) 품목은 서명 후에야 효과가 공개되고, 서명은 하루에 한 번만 가능합니다. 봉인(SEALED) 품목은 시도해도 거절 문구만 돌아옵니다.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SCREEN · WORLD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세계관 페이지: 읽는 순서까지 연출했습니다</a:t>
            </a:r>
            <a:endParaRPr lang="en-US" sz="3200" dirty="0"/>
          </a:p>
        </p:txBody>
      </p:sp>
      <p:pic>
        <p:nvPicPr>
          <p:cNvPr id="4" name="브랜드 스토리" descr="브랜드 스토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566160" cy="22288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브랜드 스토리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소설 속 설정을 매장의 말투로 소개</a:t>
            </a:r>
            <a:endParaRPr lang="en-US" sz="1200" dirty="0"/>
          </a:p>
        </p:txBody>
      </p:sp>
      <p:pic>
        <p:nvPicPr>
          <p:cNvPr id="8" name="점장의 노트 (자정 이후)" descr="점장의 노트 (자정 이후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3566160" cy="22288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9768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9768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점장의 노트 (자정 이후)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4526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낮에는 카운트다운만, 자정이 지나면 ‘오늘의 노트 뽑기’</a:t>
            </a:r>
            <a:endParaRPr lang="en-US" sz="1200" dirty="0"/>
          </a:p>
        </p:txBody>
      </p:sp>
      <p:pic>
        <p:nvPicPr>
          <p:cNvPr id="12" name="방문 안내" descr="방문 안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37360"/>
            <a:ext cx="3566160" cy="22288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046720" y="1737360"/>
            <a:ext cx="3566160" cy="222885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04672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방문 안내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4526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정해진 주소가 없다는 설정을 안내문으로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점장은 비밀스러운 존재라는 원작의 성격에 맞춰, 점장의 정체는 드러내지 않고 기록만 남기도록 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FEATURES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세계관이라서 가능한 React 기능</a:t>
            </a:r>
            <a:endParaRPr lang="en-US" sz="3200" dirty="0"/>
          </a:p>
        </p:txBody>
      </p:sp>
      <p:sp>
        <p:nvSpPr>
          <p:cNvPr id="4" name="feature-card-1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하루 한 번의 계약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서명 기록을 localStorage에 날짜별로 저장해 하루 1회만 허용</a:t>
            </a:r>
            <a:endParaRPr lang="en-US" sz="1400" dirty="0"/>
          </a:p>
        </p:txBody>
      </p:sp>
      <p:sp>
        <p:nvSpPr>
          <p:cNvPr id="7" name="feature-card-2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자정에만 열리는 노트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현재 시각으로 낮/밤을 판별, 밤에만 ‘오늘의 노트’를 뽑음</a:t>
            </a:r>
            <a:endParaRPr lang="en-US" sz="1400" dirty="0"/>
          </a:p>
        </p:txBody>
      </p:sp>
      <p:sp>
        <p:nvSpPr>
          <p:cNvPr id="10" name="feature-card-3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봉인된 품목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구매 대신 ‘시도’ 버튼, 품목마다 다른 거절 응답</a:t>
            </a:r>
            <a:endParaRPr lang="en-US" sz="1400" dirty="0"/>
          </a:p>
        </p:txBody>
      </p:sp>
      <p:sp>
        <p:nvSpPr>
          <p:cNvPr id="13" name="feature-card-4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살 수 없는 빵의 알림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 UNAVAILABLE 품목은 입고 알림으로 등록</a:t>
            </a:r>
            <a:endParaRPr lang="en-US" sz="1400" dirty="0"/>
          </a:p>
        </p:txBody>
      </p:sp>
      <p:sp>
        <p:nvSpPr>
          <p:cNvPr id="16" name="feature-card-5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위시 · 최근 본 상품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로컬 저장 + 헤더 뱃지로 개수 표시</a:t>
            </a:r>
            <a:endParaRPr lang="en-US" sz="1400" dirty="0"/>
          </a:p>
        </p:txBody>
      </p:sp>
      <p:sp>
        <p:nvSpPr>
          <p:cNvPr id="19" name="feature-card-6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김서림 · 전역 안개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마우스 좌표를 CSS 변수로 넘겨 mask-image로 걷어냄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CORE LOGIC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배열 메서드만으로 완성한 두 개의 핵심 로직</a:t>
            </a:r>
            <a:endParaRPr lang="en-US" sz="3200" dirty="0"/>
          </a:p>
        </p:txBody>
      </p:sp>
      <p:sp>
        <p:nvSpPr>
          <p:cNvPr id="4" name="code-1"/>
          <p:cNvSpPr/>
          <p:nvPr/>
        </p:nvSpPr>
        <p:spPr>
          <a:xfrm>
            <a:off x="548640" y="1554480"/>
            <a:ext cx="53949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activeProducts = categoryProducts.filter(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(product) =&gt; product.category === activeCategory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6" name="code-2"/>
          <p:cNvSpPr/>
          <p:nvPr/>
        </p:nvSpPr>
        <p:spPr>
          <a:xfrm>
            <a:off x="6217920" y="1554480"/>
            <a:ext cx="53949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91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 categoryProducts.find(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(item) =&gt; String(item.id) ===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진열대 필터링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탭을 눌러 activeCategory 상태가 바뀌면 filter()가 39개 중 해당 컬렉션만 걸러 그리드에 그립니다.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657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상세페이지 조회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114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카드를 누르면 /product/:id로 이동하고, ProductDetail이 find()로 상품 하나만 찾아 렌더링합니다.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 컴포넌트 없이 JSON 배열 메서드만으로 화면이 완성되는 구조가 설계 원칙입니다.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RESPONSIVE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모바일에서도 같은 세계가 열립니다</a:t>
            </a:r>
            <a:endParaRPr lang="en-US" sz="3200" dirty="0"/>
          </a:p>
        </p:txBody>
      </p:sp>
      <p:pic>
        <p:nvPicPr>
          <p:cNvPr id="4" name="mobile-home" descr="모바일 메인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2331720" cy="4663440"/>
          </a:xfrm>
          <a:prstGeom prst="rect">
            <a:avLst/>
          </a:prstGeom>
        </p:spPr>
      </p:pic>
      <p:pic>
        <p:nvPicPr>
          <p:cNvPr id="5" name="mobile-product" descr="모바일 상품 상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8960" y="1508760"/>
            <a:ext cx="2331720" cy="4663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35040" y="1645920"/>
            <a:ext cx="5577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760px 이하에서 사라지던 헤더 메뉴를 햄버거 + 슬라이드 드로어로 대체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PC 기준 고정 크기(1050×740px)였던 히어로 배경 그래픽을 모바일 전용 크기로 축소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모바일에서만 장식 별 1개를 숨겨 화면 가림 방지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실제 화면 캡처로 점검한 뒤 수정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TROUBLESHOOTING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막혔던 문제 네 가지와 해결</a:t>
            </a:r>
            <a:endParaRPr lang="en-US" sz="3200" dirty="0"/>
          </a:p>
        </p:txBody>
      </p:sp>
      <p:sp>
        <p:nvSpPr>
          <p:cNvPr id="4" name="trouble-card-1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 후 이미지 404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절대경로(/img/…)를 상대경로(img/…)로 바꾸고, 고정된 HashRouter 문서 경로 특성을 활용해 해결</a:t>
            </a:r>
            <a:endParaRPr lang="en-US" sz="1400" dirty="0"/>
          </a:p>
        </p:txBody>
      </p:sp>
      <p:sp>
        <p:nvSpPr>
          <p:cNvPr id="7" name="trouble-card-2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83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해시 링크로 빈 화면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HashRouter에서 href="#story"가 라우트로 해석됨. scrollIntoView와 navigate("/", { state: { scrollTo } })로 교체</a:t>
            </a:r>
            <a:endParaRPr lang="en-US" sz="1400" dirty="0"/>
          </a:p>
        </p:txBody>
      </p:sp>
      <p:sp>
        <p:nvSpPr>
          <p:cNvPr id="10" name="trouble-card-3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모바일에서 메뉴 소멸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760px 이하에서 메뉴가 숨기만 하던 구조. 햄버거 버튼과 드로어를 새로 구현</a:t>
            </a:r>
            <a:endParaRPr lang="en-US" sz="1400" dirty="0"/>
          </a:p>
        </p:txBody>
      </p:sp>
      <p:sp>
        <p:nvSpPr>
          <p:cNvPr id="13" name="trouble-card-4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4114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‘불안’·‘저주’ 검색 실패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6634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이름만 검색하던 구조. 효과·주의·맛·재료와 카테고리 키워드까지 검색 대상으로 확대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4" name="stack-row-1"/>
          <p:cNvSpPr/>
          <p:nvPr/>
        </p:nvSpPr>
        <p:spPr>
          <a:xfrm>
            <a:off x="548640" y="16002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600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React 19 (JavaScript) · react-router-dom 7 (HashRouter)</a:t>
            </a:r>
            <a:endParaRPr lang="en-US" sz="1500" dirty="0"/>
          </a:p>
        </p:txBody>
      </p:sp>
      <p:sp>
        <p:nvSpPr>
          <p:cNvPr id="7" name="stack-row-2"/>
          <p:cNvSpPr/>
          <p:nvPr/>
        </p:nvSpPr>
        <p:spPr>
          <a:xfrm>
            <a:off x="548640" y="246888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68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68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JSON 데이터 레이어 · localStorage (위시, 알림, 계약, 최근 본 상품)</a:t>
            </a:r>
            <a:endParaRPr lang="en-US" sz="1500" dirty="0"/>
          </a:p>
        </p:txBody>
      </p:sp>
      <p:sp>
        <p:nvSpPr>
          <p:cNvPr id="10" name="stack-row-3"/>
          <p:cNvSpPr/>
          <p:nvPr/>
        </p:nvSpPr>
        <p:spPr>
          <a:xfrm>
            <a:off x="548640" y="333756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Style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3375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컴포넌트별 CSS · mask-image · backdrop-filter · mix-blend-mode · 반응형 미디어쿼리</a:t>
            </a:r>
            <a:endParaRPr lang="en-US" sz="1500" dirty="0"/>
          </a:p>
        </p:txBody>
      </p:sp>
      <p:sp>
        <p:nvSpPr>
          <p:cNvPr id="13" name="stack-row-4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Assets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2062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 이미지(나노바나나) · 안개 영상(mp4)</a:t>
            </a:r>
            <a:endParaRPr lang="en-US" sz="1500" dirty="0"/>
          </a:p>
        </p:txBody>
      </p:sp>
      <p:sp>
        <p:nvSpPr>
          <p:cNvPr id="16" name="stack-row-5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74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Deploy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5074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GitHub · GitHub Pages (gh-pages)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LIMITS &amp; NEXT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한계와 앞으로</a:t>
            </a:r>
            <a:endParaRPr lang="en-US" sz="3200" dirty="0"/>
          </a:p>
        </p:txBody>
      </p:sp>
      <p:sp>
        <p:nvSpPr>
          <p:cNvPr id="4" name="limits-card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위시·알림·계약이 브라우저별 localStorage라 기기를 바꾸면 사라짐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AI 이미지 결과의 편차를 재생성으로 맞춰야 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전역 안개 효과는 의도한 분위기까지 다듬는 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TypeScript 적용 전 단계</a:t>
            </a:r>
            <a:endParaRPr lang="en-US" sz="1500" dirty="0"/>
          </a:p>
        </p:txBody>
      </p:sp>
      <p:sp>
        <p:nvSpPr>
          <p:cNvPr id="7" name="next-card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향후 확장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원작 메뉴를 더 반영한 신메뉴 추가와 이미지 보강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TypeScript 전환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서버 연동으로 계정 단위 위시·알림 보관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접근성(색 대비, 키보드 포커스) 개선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 BAKERY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MORE MAGICAL TOMORROW.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ACA0"/>
                </a:solidFill>
              </a:rPr>
              <a:t>라이브 사이트  </a:t>
            </a:r>
            <a:pPr indent="0" marL="0">
              <a:buNone/>
            </a:pPr>
            <a:r>
              <a:rPr lang="en-US" sz="1500" u="sng" dirty="0">
                <a:solidFill>
                  <a:srgbClr val="D9A06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https://ejdms499-wq.github.io/wizard-bakery/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ACA0"/>
                </a:solidFill>
              </a:rPr>
              <a:t>GitHub  </a:t>
            </a:r>
            <a:pPr indent="0" marL="0">
              <a:buNone/>
            </a:pPr>
            <a:r>
              <a:rPr lang="en-US" sz="1500" u="sng" dirty="0">
                <a:solidFill>
                  <a:srgbClr val="D9A06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https://github.com/ejdms499-wq/wizard-bakery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zard Bakery Midnight">
  <a:themeElements>
    <a:clrScheme name="Wizard Bakery Midnight">
      <a:dk1>
        <a:srgbClr val="0B0A14"/>
      </a:dk1>
      <a:lt1>
        <a:srgbClr val="F1EAE0"/>
      </a:lt1>
      <a:dk2>
        <a:srgbClr val="1A1930"/>
      </a:dk2>
      <a:lt2>
        <a:srgbClr val="B3ACA0"/>
      </a:lt2>
      <a:accent1>
        <a:srgbClr val="D9A066"/>
      </a:accent1>
      <a:accent2>
        <a:srgbClr val="8A7FB5"/>
      </a:accent2>
      <a:accent3>
        <a:srgbClr val="E6B9A0"/>
      </a:accent3>
      <a:accent4>
        <a:srgbClr val="4A4866"/>
      </a:accent4>
      <a:accent5>
        <a:srgbClr val="C45B4D"/>
      </a:accent5>
      <a:accent6>
        <a:srgbClr val="6FA08A"/>
      </a:accent6>
      <a:hlink>
        <a:srgbClr val="D9A066"/>
      </a:hlink>
      <a:folHlink>
        <a:srgbClr val="8A7FB5"/>
      </a:folHlink>
    </a:clrScheme>
    <a:fontScheme name="Wizard Bakery Mid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WIZARD BAKERY — 기획부터 개발까지</dc:title>
  <dc:subject>PptxGenJS Presentation</dc:subject>
  <dc:creator>KIM SOY</dc:creator>
  <cp:lastModifiedBy>KIM SOY</cp:lastModifiedBy>
  <cp:revision>1</cp:revision>
  <dcterms:created xsi:type="dcterms:W3CDTF">2026-10-26T05:27:03Z</dcterms:created>
  <dcterms:modified xsi:type="dcterms:W3CDTF">2026-10-26T05:27:03Z</dcterms:modified>
</cp:coreProperties>
</file>